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rlito" panose="020B0604020202020204" charset="0"/>
      <p:regular r:id="rId15"/>
    </p:embeddedFont>
    <p:embeddedFont>
      <p:font typeface="Carlito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0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567" y="379909"/>
            <a:ext cx="70102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kern="100" spc="4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567" y="717550"/>
            <a:ext cx="7924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67" y="1600200"/>
            <a:ext cx="5120452" cy="2330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567" y="4540448"/>
            <a:ext cx="70102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kern="100" spc="3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567" y="4904184"/>
            <a:ext cx="70102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SCORE RETRIEVAL AND GENERATION INDEPENDENTLY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207" y="1371600"/>
            <a:ext cx="4754741" cy="5022850"/>
          </a:xfrm>
          <a:prstGeom prst="roundRect">
            <a:avLst>
              <a:gd name="adj" fmla="val 293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7223540" y="1567855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540" y="1839119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cs typeface="Carlito" pitchFamily="34" charset="0"/>
              </a:rPr>
              <a:t>The Tensor Squad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540" y="2262882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23540" y="2534146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cs typeface="Carlito" pitchFamily="34" charset="0"/>
              </a:rPr>
              <a:t>UJ16O1WB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23540" y="2957810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PROJECT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23540" y="3229074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RAG Evaluation Pipeline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23540" y="3652738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EVALUATION FOCUS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23540" y="3924002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Retrieval and Answer Generation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23540" y="4347666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APPROACH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23540" y="4618930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Separate evaluation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23540" y="5042595"/>
            <a:ext cx="49071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PURPOSE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23540" y="5313859"/>
            <a:ext cx="49071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Diagnose RAG failures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567" y="6394450"/>
            <a:ext cx="1164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hypnexismuj.com   |   @hypnexis.muj   |   hypnexis2026@muj.manipal.edu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08142D-76B5-1BA2-6F29-A21EEBF26126}"/>
              </a:ext>
            </a:extLst>
          </p:cNvPr>
          <p:cNvSpPr txBox="1"/>
          <p:nvPr/>
        </p:nvSpPr>
        <p:spPr>
          <a:xfrm>
            <a:off x="7223540" y="5636056"/>
            <a:ext cx="196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100" spc="200" dirty="0" err="1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Url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1FC3BB-CE41-856F-515A-4BD81B8D9E40}"/>
              </a:ext>
            </a:extLst>
          </p:cNvPr>
          <p:cNvSpPr txBox="1"/>
          <p:nvPr/>
        </p:nvSpPr>
        <p:spPr>
          <a:xfrm>
            <a:off x="7162962" y="6022786"/>
            <a:ext cx="4327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FF"/>
                </a:solidFill>
                <a:latin typeface="Carlito" pitchFamily="34" charset="0"/>
                <a:cs typeface="Carlito" pitchFamily="34" charset="0"/>
              </a:rPr>
              <a:t>https://ragdiagnose-aks-01.streamlit.app/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5168" y="4617641"/>
            <a:ext cx="5486263" cy="1508720"/>
          </a:xfrm>
          <a:prstGeom prst="roundRect">
            <a:avLst>
              <a:gd name="adj" fmla="val 8727"/>
            </a:avLst>
          </a:prstGeom>
          <a:noFill/>
          <a:ln w="12700">
            <a:solidFill>
              <a:srgbClr val="1E5B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68" y="4630341"/>
            <a:ext cx="5460863" cy="1483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PROJECT OVERVIEW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Team ID: UJ16O1WB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189" y="1691580"/>
            <a:ext cx="5486263" cy="4434780"/>
          </a:xfrm>
          <a:prstGeom prst="roundRect">
            <a:avLst>
              <a:gd name="adj" fmla="val 296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422" y="1878310"/>
            <a:ext cx="55471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INDEPENDENT EVALUATION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422" y="2272010"/>
            <a:ext cx="48931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Evaluate retrieval quality separately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Measure answer-generation quality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Diagnose which stage causes failure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45168" y="1691580"/>
            <a:ext cx="5486263" cy="2743200"/>
          </a:xfrm>
          <a:prstGeom prst="roundRect">
            <a:avLst>
              <a:gd name="adj" fmla="val 48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19501" y="1878310"/>
            <a:ext cx="55471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END-TO-END PIPELINE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19501" y="2272010"/>
            <a:ext cx="48931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Ingest and process documents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Retrieve context and generate answers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Evaluate and export reports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PROBLEM STATEMENT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11274242" cy="4434780"/>
          </a:xfrm>
          <a:prstGeom prst="roundRect">
            <a:avLst>
              <a:gd name="adj" fmla="val 296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422" y="1878310"/>
            <a:ext cx="111249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WHY SEPARATE EVALUATION IS NEEDED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422" y="2363391"/>
            <a:ext cx="10647394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Traditional RAG evaluation combines retrieval and generation into one result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Failures are hard to trace to poor retrieval or incorrect generation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Manual debugging is slow and difficult to scale</a:t>
            </a:r>
            <a:endParaRPr lang="en-US" sz="1600" dirty="0"/>
          </a:p>
          <a:p>
            <a:pPr marL="343408" indent="-343408" algn="l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 structured evaluation workflow is required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PROJECT OBJECTIVES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422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RETRIEVAL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422" y="2363391"/>
            <a:ext cx="3064394" cy="929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Evaluate retriever performance independently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Measure relevance of retrieved chunks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70070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403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GENERATION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44403" y="2363391"/>
            <a:ext cx="3064394" cy="929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Evaluate faithfulness against retrieved context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Measure accuracy against expected answers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83050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7383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DIAGNOSIS &amp; REPORTING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57383" y="2363391"/>
            <a:ext cx="3064394" cy="71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Identify the root cause of failures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Generate downloadable evaluation reports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SYSTEM WORKFLOW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3606710" cy="2540000"/>
          </a:xfrm>
          <a:prstGeom prst="roundRect">
            <a:avLst>
              <a:gd name="adj" fmla="val 135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6733" y="1878310"/>
            <a:ext cx="37972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DOCUMENT PREPARATION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4034" y="2272010"/>
            <a:ext cx="321302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Documents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Text Extraction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Text Cleaning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Chunking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19271" y="1691580"/>
            <a:ext cx="3606710" cy="2540000"/>
          </a:xfrm>
          <a:prstGeom prst="roundRect">
            <a:avLst>
              <a:gd name="adj" fmla="val 135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428816" y="1878310"/>
            <a:ext cx="37972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RETRIEVAL &amp; INSPECTION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416116" y="2272010"/>
            <a:ext cx="32130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Retrieval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Context Inspection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81453" y="1691580"/>
            <a:ext cx="3606710" cy="2540000"/>
          </a:xfrm>
          <a:prstGeom prst="roundRect">
            <a:avLst>
              <a:gd name="adj" fmla="val 135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190997" y="1878310"/>
            <a:ext cx="37972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GENERATION &amp; EVALUATION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78298" y="2272010"/>
            <a:ext cx="32130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Answer Generation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Evaluation Report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4337" y="4470400"/>
            <a:ext cx="55751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END-TO-END DATA FLOW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189" y="4927600"/>
            <a:ext cx="1904952" cy="914400"/>
          </a:xfrm>
          <a:prstGeom prst="roundRect">
            <a:avLst>
              <a:gd name="adj" fmla="val 3750"/>
            </a:avLst>
          </a:prstGeom>
          <a:solidFill>
            <a:srgbClr val="1E5BFF"/>
          </a:solidFill>
          <a:ln/>
        </p:spPr>
      </p:sp>
      <p:sp>
        <p:nvSpPr>
          <p:cNvPr id="18" name="Text 15"/>
          <p:cNvSpPr/>
          <p:nvPr/>
        </p:nvSpPr>
        <p:spPr>
          <a:xfrm>
            <a:off x="209545" y="5251450"/>
            <a:ext cx="2400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Documents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14497" y="4927600"/>
            <a:ext cx="88133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2748191" y="4927600"/>
            <a:ext cx="1904952" cy="914400"/>
          </a:xfrm>
          <a:prstGeom prst="roundRect">
            <a:avLst>
              <a:gd name="adj" fmla="val 3750"/>
            </a:avLst>
          </a:prstGeom>
          <a:solidFill>
            <a:srgbClr val="1E5BFF"/>
          </a:solidFill>
          <a:ln/>
        </p:spPr>
      </p:sp>
      <p:sp>
        <p:nvSpPr>
          <p:cNvPr id="21" name="Text 18"/>
          <p:cNvSpPr/>
          <p:nvPr/>
        </p:nvSpPr>
        <p:spPr>
          <a:xfrm>
            <a:off x="2500548" y="5251450"/>
            <a:ext cx="2400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Text Chunks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405500" y="4927600"/>
            <a:ext cx="88133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039194" y="4927600"/>
            <a:ext cx="1904952" cy="914400"/>
          </a:xfrm>
          <a:prstGeom prst="roundRect">
            <a:avLst>
              <a:gd name="adj" fmla="val 3750"/>
            </a:avLst>
          </a:prstGeom>
          <a:solidFill>
            <a:srgbClr val="1E5BFF"/>
          </a:solidFill>
          <a:ln/>
        </p:spPr>
      </p:sp>
      <p:sp>
        <p:nvSpPr>
          <p:cNvPr id="24" name="Text 21"/>
          <p:cNvSpPr/>
          <p:nvPr/>
        </p:nvSpPr>
        <p:spPr>
          <a:xfrm>
            <a:off x="4791550" y="5251450"/>
            <a:ext cx="2400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Vector Retrieval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696503" y="4927600"/>
            <a:ext cx="88133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7330197" y="4927600"/>
            <a:ext cx="1904952" cy="914400"/>
          </a:xfrm>
          <a:prstGeom prst="roundRect">
            <a:avLst>
              <a:gd name="adj" fmla="val 3750"/>
            </a:avLst>
          </a:prstGeom>
          <a:solidFill>
            <a:srgbClr val="1E5BFF"/>
          </a:solidFill>
          <a:ln/>
        </p:spPr>
      </p:sp>
      <p:sp>
        <p:nvSpPr>
          <p:cNvPr id="27" name="Text 24"/>
          <p:cNvSpPr/>
          <p:nvPr/>
        </p:nvSpPr>
        <p:spPr>
          <a:xfrm>
            <a:off x="7082553" y="5251450"/>
            <a:ext cx="2400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LLM Answer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987506" y="4927600"/>
            <a:ext cx="88133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621200" y="4927600"/>
            <a:ext cx="1904952" cy="914400"/>
          </a:xfrm>
          <a:prstGeom prst="roundRect">
            <a:avLst>
              <a:gd name="adj" fmla="val 3750"/>
            </a:avLst>
          </a:prstGeom>
          <a:solidFill>
            <a:srgbClr val="1E5BFF"/>
          </a:solidFill>
          <a:ln/>
        </p:spPr>
      </p:sp>
      <p:sp>
        <p:nvSpPr>
          <p:cNvPr id="30" name="Text 27"/>
          <p:cNvSpPr/>
          <p:nvPr/>
        </p:nvSpPr>
        <p:spPr>
          <a:xfrm>
            <a:off x="9373556" y="5251450"/>
            <a:ext cx="2400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Evaluation Report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73922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48255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PROCESSING OUTPUT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48255" y="2272010"/>
            <a:ext cx="305169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Convert uploaded documents into cleaned, overlapping text chunks for retrieval.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4841" y="4916091"/>
            <a:ext cx="353567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Documents → Text → Chunks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DOCUMENT PROCESSING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UJ16O1WB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189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422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UPLOADED DOCUMENTS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422" y="2272010"/>
            <a:ext cx="306439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PDF and TXT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Markdown and DOCX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Input to text extraction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70070" y="1691580"/>
            <a:ext cx="3657509" cy="4434780"/>
          </a:xfrm>
          <a:prstGeom prst="roundRect">
            <a:avLst>
              <a:gd name="adj" fmla="val 36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4403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PROCESSING FLOW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44403" y="2331641"/>
            <a:ext cx="502828" cy="502841"/>
          </a:xfrm>
          <a:prstGeom prst="ellipse">
            <a:avLst/>
          </a:prstGeom>
          <a:solidFill>
            <a:srgbClr val="1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39610" y="2416473"/>
            <a:ext cx="11124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11930" y="2462510"/>
            <a:ext cx="31697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Extracted Text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44403" y="3520380"/>
            <a:ext cx="502828" cy="502841"/>
          </a:xfrm>
          <a:prstGeom prst="ellipse">
            <a:avLst/>
          </a:prstGeom>
          <a:solidFill>
            <a:srgbClr val="1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39610" y="3605213"/>
            <a:ext cx="11124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11930" y="3651250"/>
            <a:ext cx="31697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Cleaned Text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44403" y="4709120"/>
            <a:ext cx="502828" cy="502841"/>
          </a:xfrm>
          <a:prstGeom prst="ellipse">
            <a:avLst/>
          </a:prstGeom>
          <a:solidFill>
            <a:srgbClr val="1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39610" y="4793952"/>
            <a:ext cx="11124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11930" y="4839891"/>
            <a:ext cx="31697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Overlapping Text Chunks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5168" y="4617641"/>
            <a:ext cx="5486263" cy="1508720"/>
          </a:xfrm>
          <a:prstGeom prst="roundRect">
            <a:avLst>
              <a:gd name="adj" fmla="val 8727"/>
            </a:avLst>
          </a:prstGeom>
          <a:noFill/>
          <a:ln w="12700">
            <a:solidFill>
              <a:srgbClr val="1E5B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68" y="4630341"/>
            <a:ext cx="5460863" cy="1483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RETRIEVAL MODULE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UJ16O1WB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189" y="1691580"/>
            <a:ext cx="5486263" cy="4434780"/>
          </a:xfrm>
          <a:prstGeom prst="roundRect">
            <a:avLst>
              <a:gd name="adj" fmla="val 296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422" y="1878310"/>
            <a:ext cx="55471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RANKING METHOD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422" y="2272010"/>
            <a:ext cx="48931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TF-IDF vectorization represents document chunks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Compare query and chunks with cosine similarity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Return the top-k relevant chunks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45168" y="1691580"/>
            <a:ext cx="5486263" cy="2743200"/>
          </a:xfrm>
          <a:prstGeom prst="roundRect">
            <a:avLst>
              <a:gd name="adj" fmla="val 48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19501" y="1878310"/>
            <a:ext cx="55471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CHUNK OUTPUT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19501" y="2272010"/>
            <a:ext cx="48931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Rank and chunk ID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Similarity score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Source text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45168" y="4826000"/>
            <a:ext cx="1168371" cy="114300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5997524" y="5283200"/>
            <a:ext cx="16636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Query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65895" y="5270500"/>
            <a:ext cx="74928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667532" y="4826000"/>
            <a:ext cx="1168371" cy="114300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419889" y="5283200"/>
            <a:ext cx="16636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TF-IDF vectors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588259" y="5270500"/>
            <a:ext cx="74928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9089897" y="4826000"/>
            <a:ext cx="1168371" cy="114300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8842253" y="5283200"/>
            <a:ext cx="16636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Cosine similarity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010624" y="5270500"/>
            <a:ext cx="74928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10512261" y="4826000"/>
            <a:ext cx="1168371" cy="114300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0569410" y="5168900"/>
            <a:ext cx="105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Top-k ranked chunks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GENERATION MODULE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UJ16O1WB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3657509" cy="2794000"/>
          </a:xfrm>
          <a:prstGeom prst="roundRect">
            <a:avLst>
              <a:gd name="adj" fmla="val 471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422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CONTEXT 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422" y="2363391"/>
            <a:ext cx="306439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Use retrieved context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Read relevant chunks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Ground the answer in source text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70070" y="1691580"/>
            <a:ext cx="3657509" cy="2794000"/>
          </a:xfrm>
          <a:prstGeom prst="roundRect">
            <a:avLst>
              <a:gd name="adj" fmla="val 471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403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SENTENCE SELECTION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44403" y="2363391"/>
            <a:ext cx="306439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Select relevant sentences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Draw from retrieved chunks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Form the generated answer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73922" y="1691580"/>
            <a:ext cx="3657509" cy="2794000"/>
          </a:xfrm>
          <a:prstGeom prst="roundRect">
            <a:avLst>
              <a:gd name="adj" fmla="val 471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48255" y="1878310"/>
            <a:ext cx="37184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100" spc="200" dirty="0">
                <a:solidFill>
                  <a:srgbClr val="4DA3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CONTEXT EVALUATION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48255" y="2363391"/>
            <a:ext cx="306439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Evaluate the generated answer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Compare with available context</a:t>
            </a:r>
            <a:endParaRPr lang="en-US" sz="1400" dirty="0"/>
          </a:p>
          <a:p>
            <a:pPr marL="343154" indent="-343154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Check support for the answer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189" y="4724400"/>
            <a:ext cx="2514537" cy="1270000"/>
          </a:xfrm>
          <a:prstGeom prst="roundRect">
            <a:avLst>
              <a:gd name="adj" fmla="val 27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09545" y="5226050"/>
            <a:ext cx="30098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Retrieved chunks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24082" y="5105400"/>
            <a:ext cx="8762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352716" y="4724400"/>
            <a:ext cx="2514537" cy="1270000"/>
          </a:xfrm>
          <a:prstGeom prst="roundRect">
            <a:avLst>
              <a:gd name="adj" fmla="val 27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105072" y="5226050"/>
            <a:ext cx="30098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Sentence selection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619609" y="5105400"/>
            <a:ext cx="8762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248244" y="4724400"/>
            <a:ext cx="2514537" cy="1270000"/>
          </a:xfrm>
          <a:prstGeom prst="roundRect">
            <a:avLst>
              <a:gd name="adj" fmla="val 27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000600" y="5226050"/>
            <a:ext cx="30098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Generated answer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515137" y="5105400"/>
            <a:ext cx="8762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4DA3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143771" y="4724400"/>
            <a:ext cx="2514537" cy="1270000"/>
          </a:xfrm>
          <a:prstGeom prst="roundRect">
            <a:avLst>
              <a:gd name="adj" fmla="val 270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896127" y="5226050"/>
            <a:ext cx="30098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Checked against context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EVALUATION METRICS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UJ16O1WB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0383" y="1970980"/>
            <a:ext cx="507987" cy="508000"/>
          </a:xfrm>
          <a:prstGeom prst="roundRect">
            <a:avLst>
              <a:gd name="adj" fmla="val 6750"/>
            </a:avLst>
          </a:prstGeom>
          <a:solidFill>
            <a:srgbClr val="1E5BFF"/>
          </a:solidFill>
          <a:ln/>
        </p:spPr>
      </p:sp>
      <p:sp>
        <p:nvSpPr>
          <p:cNvPr id="9" name="Text 6"/>
          <p:cNvSpPr/>
          <p:nvPr/>
        </p:nvSpPr>
        <p:spPr>
          <a:xfrm>
            <a:off x="412740" y="2072580"/>
            <a:ext cx="1003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28714" y="1843980"/>
            <a:ext cx="453378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CONTEXT RELEVANCE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28714" y="2174180"/>
            <a:ext cx="45337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How relevant retrieved chunks are to the query.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189" y="285998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0383" y="3139380"/>
            <a:ext cx="507987" cy="508000"/>
          </a:xfrm>
          <a:prstGeom prst="roundRect">
            <a:avLst>
              <a:gd name="adj" fmla="val 6750"/>
            </a:avLst>
          </a:prstGeom>
          <a:solidFill>
            <a:srgbClr val="1E5BFF"/>
          </a:solidFill>
          <a:ln/>
        </p:spPr>
      </p:sp>
      <p:sp>
        <p:nvSpPr>
          <p:cNvPr id="14" name="Text 11"/>
          <p:cNvSpPr/>
          <p:nvPr/>
        </p:nvSpPr>
        <p:spPr>
          <a:xfrm>
            <a:off x="412740" y="3240980"/>
            <a:ext cx="1003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28714" y="3012380"/>
            <a:ext cx="453378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FAITHFULNESS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28714" y="3342580"/>
            <a:ext cx="45337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Whether the answer is supported by retrieved context.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189" y="402838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0383" y="4307780"/>
            <a:ext cx="507987" cy="508000"/>
          </a:xfrm>
          <a:prstGeom prst="roundRect">
            <a:avLst>
              <a:gd name="adj" fmla="val 6750"/>
            </a:avLst>
          </a:prstGeom>
          <a:solidFill>
            <a:srgbClr val="1E5BFF"/>
          </a:solidFill>
          <a:ln/>
        </p:spPr>
      </p:sp>
      <p:sp>
        <p:nvSpPr>
          <p:cNvPr id="19" name="Text 16"/>
          <p:cNvSpPr/>
          <p:nvPr/>
        </p:nvSpPr>
        <p:spPr>
          <a:xfrm>
            <a:off x="412740" y="4409380"/>
            <a:ext cx="1003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28714" y="4180780"/>
            <a:ext cx="453378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ANSWER ACCURACY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28714" y="4510980"/>
            <a:ext cx="39242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Similarity of the generated answer to the expected answer.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189" y="519678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60383" y="5476180"/>
            <a:ext cx="507987" cy="508000"/>
          </a:xfrm>
          <a:prstGeom prst="roundRect">
            <a:avLst>
              <a:gd name="adj" fmla="val 6750"/>
            </a:avLst>
          </a:prstGeom>
          <a:solidFill>
            <a:srgbClr val="1E5BFF"/>
          </a:solidFill>
          <a:ln/>
        </p:spPr>
      </p:sp>
      <p:sp>
        <p:nvSpPr>
          <p:cNvPr id="24" name="Text 21"/>
          <p:cNvSpPr/>
          <p:nvPr/>
        </p:nvSpPr>
        <p:spPr>
          <a:xfrm>
            <a:off x="412740" y="5577780"/>
            <a:ext cx="10032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28714" y="5349180"/>
            <a:ext cx="453378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OVERALL RESULT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28714" y="5679380"/>
            <a:ext cx="39242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Whether the configured evaluation thresholds were passed.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791055" y="1691580"/>
            <a:ext cx="5943451" cy="4572000"/>
          </a:xfrm>
          <a:prstGeom prst="roundRect">
            <a:avLst>
              <a:gd name="adj" fmla="val 750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102197" y="1878310"/>
            <a:ext cx="59561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SAMPLE EVALUATION RESULTS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102197" y="2362200"/>
            <a:ext cx="59561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Context Relevance · 82%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45049" y="2692400"/>
            <a:ext cx="5460863" cy="22860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045049" y="2692400"/>
            <a:ext cx="4477829" cy="228600"/>
          </a:xfrm>
          <a:prstGeom prst="roundRect">
            <a:avLst>
              <a:gd name="adj" fmla="val 15000"/>
            </a:avLst>
          </a:prstGeom>
          <a:solidFill>
            <a:srgbClr val="1E5BFF"/>
          </a:solidFill>
          <a:ln/>
        </p:spPr>
      </p:sp>
      <p:sp>
        <p:nvSpPr>
          <p:cNvPr id="32" name="Text 29"/>
          <p:cNvSpPr/>
          <p:nvPr/>
        </p:nvSpPr>
        <p:spPr>
          <a:xfrm>
            <a:off x="6102197" y="3124200"/>
            <a:ext cx="59561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Faithfulness · 76%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045049" y="3454400"/>
            <a:ext cx="5460863" cy="22860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045049" y="3454400"/>
            <a:ext cx="4150216" cy="228600"/>
          </a:xfrm>
          <a:prstGeom prst="roundRect">
            <a:avLst>
              <a:gd name="adj" fmla="val 15000"/>
            </a:avLst>
          </a:prstGeom>
          <a:solidFill>
            <a:srgbClr val="1E5BFF"/>
          </a:solidFill>
          <a:ln/>
        </p:spPr>
      </p:sp>
      <p:sp>
        <p:nvSpPr>
          <p:cNvPr id="35" name="Text 32"/>
          <p:cNvSpPr/>
          <p:nvPr/>
        </p:nvSpPr>
        <p:spPr>
          <a:xfrm>
            <a:off x="6102197" y="3886200"/>
            <a:ext cx="59561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Answer Accuracy · 69%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045049" y="4216400"/>
            <a:ext cx="5460863" cy="22860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045049" y="4216400"/>
            <a:ext cx="3767936" cy="228600"/>
          </a:xfrm>
          <a:prstGeom prst="roundRect">
            <a:avLst>
              <a:gd name="adj" fmla="val 15000"/>
            </a:avLst>
          </a:prstGeom>
          <a:solidFill>
            <a:srgbClr val="1E5BFF"/>
          </a:solidFill>
          <a:ln/>
        </p:spPr>
      </p:sp>
      <p:sp>
        <p:nvSpPr>
          <p:cNvPr id="38" name="Text 35"/>
          <p:cNvSpPr/>
          <p:nvPr/>
        </p:nvSpPr>
        <p:spPr>
          <a:xfrm>
            <a:off x="6102197" y="4648200"/>
            <a:ext cx="59561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Overall · 75%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045049" y="4978400"/>
            <a:ext cx="5460863" cy="22860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045049" y="4978400"/>
            <a:ext cx="4095648" cy="228600"/>
          </a:xfrm>
          <a:prstGeom prst="roundRect">
            <a:avLst>
              <a:gd name="adj" fmla="val 15000"/>
            </a:avLst>
          </a:prstGeom>
          <a:solidFill>
            <a:srgbClr val="4DA3FF"/>
          </a:solidFill>
          <a:ln/>
        </p:spPr>
      </p:sp>
      <p:sp>
        <p:nvSpPr>
          <p:cNvPr id="41" name="Text 38"/>
          <p:cNvSpPr/>
          <p:nvPr/>
        </p:nvSpPr>
        <p:spPr>
          <a:xfrm>
            <a:off x="6102197" y="5588000"/>
            <a:ext cx="53465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Sample Evaluation Results: illustrative values for demonstration, not production results.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575661" y="6454973"/>
            <a:ext cx="6160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2596"/>
            <a:ext cx="1105071" cy="502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6402" y="434082"/>
            <a:ext cx="93875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100" kern="100" spc="300" dirty="0">
                <a:solidFill>
                  <a:srgbClr val="9CC4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189" y="6355060"/>
            <a:ext cx="11274242" cy="9128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189" y="980043"/>
            <a:ext cx="1127424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100" spc="200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ROOT-CAUSE DIAGNOSIS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894043" y="1151830"/>
            <a:ext cx="38372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 Tensor Squad  |  Team ID: UJ16O1WB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91580"/>
            <a:ext cx="5486263" cy="4434780"/>
          </a:xfrm>
          <a:prstGeom prst="roundRect">
            <a:avLst>
              <a:gd name="adj" fmla="val 773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88571" y="1878310"/>
            <a:ext cx="54328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FAILURE OUTCOMES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5871" y="2272010"/>
            <a:ext cx="4848699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Retriever Issue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Generation Faithfulness Issue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Answer Accuracy Issue</a:t>
            </a:r>
            <a:endParaRPr lang="en-US" sz="1400" dirty="0"/>
          </a:p>
          <a:p>
            <a:pPr marL="284480" indent="-28448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Retrieval and Generation Issue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5168" y="1691580"/>
            <a:ext cx="5486263" cy="4434780"/>
          </a:xfrm>
          <a:prstGeom prst="roundRect">
            <a:avLst>
              <a:gd name="adj" fmla="val 773"/>
            </a:avLst>
          </a:prstGeom>
          <a:solidFill>
            <a:srgbClr val="0B1A4A">
              <a:alpha val="7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576650" y="1878310"/>
            <a:ext cx="54328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DA3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DECISION FLOW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19501" y="2336800"/>
            <a:ext cx="4937597" cy="660400"/>
          </a:xfrm>
          <a:prstGeom prst="roundRect">
            <a:avLst>
              <a:gd name="adj" fmla="val 519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271857" y="2533650"/>
            <a:ext cx="54328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Check retrieval metrics against thresholds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57800" y="2997200"/>
            <a:ext cx="8508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↓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19501" y="3225800"/>
            <a:ext cx="4937597" cy="660400"/>
          </a:xfrm>
          <a:prstGeom prst="roundRect">
            <a:avLst>
              <a:gd name="adj" fmla="val 519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71857" y="3422650"/>
            <a:ext cx="54328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Then check faithfulness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57800" y="3886200"/>
            <a:ext cx="8508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↓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19501" y="4114800"/>
            <a:ext cx="4937597" cy="660400"/>
          </a:xfrm>
          <a:prstGeom prst="roundRect">
            <a:avLst>
              <a:gd name="adj" fmla="val 519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271857" y="4311650"/>
            <a:ext cx="54328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Then check answer accuracy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57800" y="4775200"/>
            <a:ext cx="8508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19501" y="5003800"/>
            <a:ext cx="4937597" cy="660400"/>
          </a:xfrm>
          <a:prstGeom prst="roundRect">
            <a:avLst>
              <a:gd name="adj" fmla="val 5192"/>
            </a:avLst>
          </a:prstGeom>
          <a:solidFill>
            <a:srgbClr val="1E5BFF"/>
          </a:solidFill>
          <a:ln/>
        </p:spPr>
      </p:sp>
      <p:sp>
        <p:nvSpPr>
          <p:cNvPr id="22" name="Text 19"/>
          <p:cNvSpPr/>
          <p:nvPr/>
        </p:nvSpPr>
        <p:spPr>
          <a:xfrm>
            <a:off x="6271857" y="5200650"/>
            <a:ext cx="54328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Passed: all configured thresholds met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76650" y="5740400"/>
            <a:ext cx="54328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Failing checks map to one failure outcome.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189" y="6470154"/>
            <a:ext cx="51038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511270" y="6454973"/>
            <a:ext cx="68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9CC4FF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762</Words>
  <Application>Microsoft Office PowerPoint</Application>
  <PresentationFormat>Widescreen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Carlito</vt:lpstr>
      <vt:lpstr>Arial</vt:lpstr>
      <vt:lpstr>Arimo Bold</vt:lpstr>
      <vt:lpstr>Carlito 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Adesh Kumar Singh</cp:lastModifiedBy>
  <cp:revision>3</cp:revision>
  <dcterms:created xsi:type="dcterms:W3CDTF">2026-10-24T21:38:14Z</dcterms:created>
  <dcterms:modified xsi:type="dcterms:W3CDTF">2026-10-24T21:46:55Z</dcterms:modified>
</cp:coreProperties>
</file>